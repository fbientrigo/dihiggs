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61" r:id="rId4"/>
    <p:sldId id="260" r:id="rId5"/>
    <p:sldId id="262" r:id="rId6"/>
    <p:sldId id="263" r:id="rId7"/>
    <p:sldId id="259" r:id="rId8"/>
    <p:sldId id="264" r:id="rId9"/>
    <p:sldId id="265" r:id="rId10"/>
    <p:sldId id="266" r:id="rId11"/>
    <p:sldId id="258" r:id="rId12"/>
    <p:sldId id="271" r:id="rId13"/>
    <p:sldId id="267" r:id="rId14"/>
    <p:sldId id="270" r:id="rId15"/>
    <p:sldId id="268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69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s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AFA1A7-5D82-42F3-8A3D-E46FBE72EC53}" type="datetimeFigureOut">
              <a:rPr lang="es-CL" smtClean="0"/>
              <a:t>04-04-2025</a:t>
            </a:fld>
            <a:endParaRPr lang="es-C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5B0771-B948-4BEE-B971-5C0E999FBD4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0406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0771-B948-4BEE-B971-5C0E999FBD45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30137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Valores que estallan, valores </a:t>
            </a:r>
            <a:r>
              <a:rPr lang="es-CL" dirty="0" err="1"/>
              <a:t>Nan</a:t>
            </a:r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0771-B948-4BEE-B971-5C0E999FBD45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552474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El </a:t>
            </a:r>
            <a:r>
              <a:rPr lang="es-CL" dirty="0" err="1"/>
              <a:t>paramatro</a:t>
            </a:r>
            <a:r>
              <a:rPr lang="es-CL" dirty="0"/>
              <a:t> tau cercano a uno puede ser </a:t>
            </a:r>
            <a:r>
              <a:rPr lang="es-CL" dirty="0" err="1"/>
              <a:t>problematico</a:t>
            </a:r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0771-B948-4BEE-B971-5C0E999FBD45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39666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Por ejemplo la condición de </a:t>
            </a:r>
            <a:r>
              <a:rPr lang="es-CL" dirty="0" err="1"/>
              <a:t>TreeLevel</a:t>
            </a:r>
            <a:r>
              <a:rPr lang="es-CL" dirty="0"/>
              <a:t> </a:t>
            </a:r>
            <a:r>
              <a:rPr lang="es-CL" dirty="0" err="1"/>
              <a:t>Unitarity</a:t>
            </a:r>
            <a:r>
              <a:rPr lang="es-CL" dirty="0"/>
              <a:t> debe de ser cercana a </a:t>
            </a:r>
            <a:r>
              <a:rPr lang="es-CL" dirty="0" err="1"/>
              <a:t>a</a:t>
            </a:r>
            <a:r>
              <a:rPr lang="es-CL" dirty="0"/>
              <a:t> esta, dado </a:t>
            </a:r>
            <a:r>
              <a:rPr lang="es-CL" dirty="0" err="1"/>
              <a:t>lambadas</a:t>
            </a:r>
            <a:r>
              <a:rPr lang="es-CL" dirty="0"/>
              <a:t> 6  y 7 cercanos a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0771-B948-4BEE-B971-5C0E999FBD45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6963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B0771-B948-4BEE-B971-5C0E999FBD45}" type="slidenum">
              <a:rPr lang="es-CL" smtClean="0"/>
              <a:t>24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98206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FF15F-18C4-026F-9E5F-A67D5E6A4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1C5E58-AA71-DE9E-019D-A39AA6B76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B4318-6525-C1A8-1B8D-6645B44B8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C2592-93FC-48A2-B373-0219679E3996}" type="datetimeFigureOut">
              <a:rPr lang="es-CL" smtClean="0"/>
              <a:t>04-04-2025</a:t>
            </a:fld>
            <a:endParaRPr lang="es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6D487-DBFE-5800-2230-70D02CCB0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AD7FD-2BD3-529A-AB35-3D0EEA2F5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AD06-1D27-496A-ACC2-EF0B320C8A6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6423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1A061-DAF2-568A-D1B3-00BEBC5B0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B759-8215-871D-C12C-65DF50573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BA529-49B3-653B-735D-82573D0E4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C2592-93FC-48A2-B373-0219679E3996}" type="datetimeFigureOut">
              <a:rPr lang="es-CL" smtClean="0"/>
              <a:t>04-04-2025</a:t>
            </a:fld>
            <a:endParaRPr lang="es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D76F9-8D90-822C-9E0B-F4DE8446A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157C8-136C-045C-1D52-FCFE35FC8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AD06-1D27-496A-ACC2-EF0B320C8A6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27524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513B0-624B-049B-91D7-092462FC0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54B01C-5F37-D472-6F5D-BDF82284C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B7D87-598A-3D04-8908-1933FEB81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C2592-93FC-48A2-B373-0219679E3996}" type="datetimeFigureOut">
              <a:rPr lang="es-CL" smtClean="0"/>
              <a:t>04-04-2025</a:t>
            </a:fld>
            <a:endParaRPr lang="es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51754-97A4-7C46-0395-251CD8F6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92576-F334-76C5-1D14-7BF0CF4AB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AD06-1D27-496A-ACC2-EF0B320C8A6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30474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ECD86-8A0E-A555-0AC8-E6AE44271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D664B-AB52-E70E-C606-E6D8A0564B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D09AAB-D961-6849-B40B-CED6D586C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940DF6-11A0-A957-0FBA-9CFB16B85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C2592-93FC-48A2-B373-0219679E3996}" type="datetimeFigureOut">
              <a:rPr lang="es-CL" smtClean="0"/>
              <a:t>04-04-2025</a:t>
            </a:fld>
            <a:endParaRPr lang="es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72B29-58EB-FC14-6DCA-3F6E7A302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52701-4725-8E06-82F3-CBC1AAD19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AD06-1D27-496A-ACC2-EF0B320C8A6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988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ABC14-5C9E-71A7-7495-3CEBFC96E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9B814-7AA8-C22A-32C1-EC79B6F3D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BE1D2E-73C4-D977-2D16-3B16C01C1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29CBA8-0838-2649-10C0-A73D5F281E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AB0358-50E3-3CE7-C308-17F468706A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CD2D83-33C0-C114-4E2D-15A4B385E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C2592-93FC-48A2-B373-0219679E3996}" type="datetimeFigureOut">
              <a:rPr lang="es-CL" smtClean="0"/>
              <a:t>04-04-2025</a:t>
            </a:fld>
            <a:endParaRPr lang="es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D24424-B517-CB75-F887-FEB9A2353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0F12A8-D6F7-8CC9-4B7D-8AAD602D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AD06-1D27-496A-ACC2-EF0B320C8A6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49182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738BA-D6AC-91DB-E5D2-359990A9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341A3D-A962-2F54-0E20-A02CF956C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C2592-93FC-48A2-B373-0219679E3996}" type="datetimeFigureOut">
              <a:rPr lang="es-CL" smtClean="0"/>
              <a:t>04-04-2025</a:t>
            </a:fld>
            <a:endParaRPr lang="es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AF5E55-D4B9-84F3-23E2-F39310FEC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8E4469-ADFA-823B-4DBC-B128326C4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AD06-1D27-496A-ACC2-EF0B320C8A6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16930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C76FB2-F311-4760-4AFC-2B07D4FB9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C2592-93FC-48A2-B373-0219679E3996}" type="datetimeFigureOut">
              <a:rPr lang="es-CL" smtClean="0"/>
              <a:t>04-04-2025</a:t>
            </a:fld>
            <a:endParaRPr lang="es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03C83D-7783-C079-0209-C50014FA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CE78A-DBF7-853F-F5F6-08CA82FE1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AD06-1D27-496A-ACC2-EF0B320C8A6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86327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7661B-D6C4-A6D1-DBDE-D9271182B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41B19-4146-B1D8-4E1B-067A784B4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CDFA91-3D99-0B68-3E86-0502BCCE0A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CAB98-4347-16EF-FB14-F46F78A89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C2592-93FC-48A2-B373-0219679E3996}" type="datetimeFigureOut">
              <a:rPr lang="es-CL" smtClean="0"/>
              <a:t>04-04-2025</a:t>
            </a:fld>
            <a:endParaRPr lang="es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186461-82AA-7D6A-6695-78B9F787A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ABD11-3AAE-C24C-2805-207EFED87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AD06-1D27-496A-ACC2-EF0B320C8A6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9071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3B0AB-D095-DBBC-0737-C60250141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B5BB6A-5A16-4420-A255-E889C9D5D4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528FF-5329-6C20-894B-865D39DCA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509F5-64D4-302B-FB2E-22B4ACA13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C2592-93FC-48A2-B373-0219679E3996}" type="datetimeFigureOut">
              <a:rPr lang="es-CL" smtClean="0"/>
              <a:t>04-04-2025</a:t>
            </a:fld>
            <a:endParaRPr lang="es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08694-5AEE-C627-0DB7-1203C0824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EBF8B-E749-25E8-3DDD-EA3DA40EC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AD06-1D27-496A-ACC2-EF0B320C8A6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1756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FC28F-5A97-6431-E875-179578610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0E7EA8-2406-4AC0-F456-F3FA2F65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BBF1B-E627-194F-D096-EE0CEDA9B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C2592-93FC-48A2-B373-0219679E3996}" type="datetimeFigureOut">
              <a:rPr lang="es-CL" smtClean="0"/>
              <a:t>04-04-2025</a:t>
            </a:fld>
            <a:endParaRPr lang="es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807F5-9B30-17D8-A927-9203D6F36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6192C-0142-FB47-2A62-B92606385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AD06-1D27-496A-ACC2-EF0B320C8A6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69211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F19E92-0184-0485-B5F8-D8D891159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E3E1C-3315-F046-8CD6-A3C8355D4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69AAF-1F67-960A-E3FB-2D178A077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C2592-93FC-48A2-B373-0219679E3996}" type="datetimeFigureOut">
              <a:rPr lang="es-CL" smtClean="0"/>
              <a:t>04-04-2025</a:t>
            </a:fld>
            <a:endParaRPr lang="es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59C00-3C39-129B-D469-1A6B125AA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EDB0B-69C4-3506-B4C7-784A7C357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9AD06-1D27-496A-ACC2-EF0B320C8A6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90118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A4C494-BC34-6338-CE7D-6B3BD320E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64E0C-D94D-5240-89A5-D59153588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67BEB-0EFB-4F7D-350B-2DD8E7EFEB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3C2592-93FC-48A2-B373-0219679E3996}" type="datetimeFigureOut">
              <a:rPr lang="es-CL" smtClean="0"/>
              <a:t>04-04-2025</a:t>
            </a:fld>
            <a:endParaRPr lang="es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B9109-4FC0-3AE3-6A24-A5B405519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77244-CC37-2AD7-F0AF-0E18B81D2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A9AD06-1D27-496A-ACC2-EF0B320C8A6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00568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s.rice.edu/~as143/COMP480_580_Spring20/scribe/lect17.pdf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1F6D-81EE-C42A-F739-048DFF1901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Búsqueda de Parámetros Físicos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B525DF-616E-41D3-2B1A-B117C24585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/>
              <a:t>Logs0404</a:t>
            </a:r>
          </a:p>
        </p:txBody>
      </p:sp>
    </p:spTree>
    <p:extLst>
      <p:ext uri="{BB962C8B-B14F-4D97-AF65-F5344CB8AC3E}">
        <p14:creationId xmlns:p14="http://schemas.microsoft.com/office/powerpoint/2010/main" val="3349318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0C235-3E11-B2C6-F125-33414F5F0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34CDC-83FB-2D45-53D0-1A082A0C3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Existe el interés de tener los parámetros físicos</a:t>
            </a:r>
          </a:p>
          <a:p>
            <a:pPr lvl="1"/>
            <a:r>
              <a:rPr lang="es-CL" dirty="0" err="1"/>
              <a:t>Perturbatividad</a:t>
            </a:r>
            <a:endParaRPr lang="es-CL" dirty="0"/>
          </a:p>
          <a:p>
            <a:pPr lvl="1"/>
            <a:r>
              <a:rPr lang="es-CL" dirty="0"/>
              <a:t>Positividad del potencial</a:t>
            </a:r>
          </a:p>
          <a:p>
            <a:pPr lvl="1"/>
            <a:r>
              <a:rPr lang="es-CL" dirty="0" err="1"/>
              <a:t>Unitariedad</a:t>
            </a:r>
            <a:endParaRPr lang="es-CL" dirty="0"/>
          </a:p>
          <a:p>
            <a:pPr lvl="1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658147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848B6-A253-5419-A195-76AB4DA56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5373" y="741391"/>
            <a:ext cx="5877050" cy="1616203"/>
          </a:xfrm>
        </p:spPr>
        <p:txBody>
          <a:bodyPr anchor="b">
            <a:normAutofit/>
          </a:bodyPr>
          <a:lstStyle/>
          <a:p>
            <a:r>
              <a:rPr lang="es-CL" sz="3200"/>
              <a:t>Es necesaria una búsqueda de millones de puntos?</a:t>
            </a:r>
          </a:p>
        </p:txBody>
      </p:sp>
      <p:pic>
        <p:nvPicPr>
          <p:cNvPr id="2050" name="Picture 2" descr="What is Curse of Dimensionality ?| Machine Learning #2 | by Gökçenaz Akyol  | Medium">
            <a:extLst>
              <a:ext uri="{FF2B5EF4-FFF2-40B4-BE49-F238E27FC236}">
                <a16:creationId xmlns:a16="http://schemas.microsoft.com/office/drawing/2014/main" id="{9CFC0B60-A35B-E1C4-2B2D-2B5ED73DC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9726" y="1981542"/>
            <a:ext cx="3661594" cy="1281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Curse of Dimensionality">
            <a:extLst>
              <a:ext uri="{FF2B5EF4-FFF2-40B4-BE49-F238E27FC236}">
                <a16:creationId xmlns:a16="http://schemas.microsoft.com/office/drawing/2014/main" id="{B338F901-B706-C3DC-A084-49058C03C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12663" y="3447509"/>
            <a:ext cx="3278655" cy="2344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57B88-923A-F017-4A8B-1493801A2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373" y="2533476"/>
            <a:ext cx="5877050" cy="895524"/>
          </a:xfrm>
        </p:spPr>
        <p:txBody>
          <a:bodyPr anchor="t">
            <a:normAutofit/>
          </a:bodyPr>
          <a:lstStyle/>
          <a:p>
            <a:r>
              <a:rPr lang="es-CL" sz="2000"/>
              <a:t>Es una búsqueda de 1e6 puntos (curse of dimensionality)</a:t>
            </a:r>
          </a:p>
          <a:p>
            <a:endParaRPr lang="es-CL" sz="2000"/>
          </a:p>
        </p:txBody>
      </p:sp>
      <p:grpSp>
        <p:nvGrpSpPr>
          <p:cNvPr id="2057" name="Group 2056">
            <a:extLst>
              <a:ext uri="{FF2B5EF4-FFF2-40B4-BE49-F238E27FC236}">
                <a16:creationId xmlns:a16="http://schemas.microsoft.com/office/drawing/2014/main" id="{5AE92083-24AA-7071-CFD2-79FF2AE8C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6737460"/>
            <a:ext cx="12192000" cy="123364"/>
            <a:chOff x="1" y="6737460"/>
            <a:chExt cx="12192000" cy="123364"/>
          </a:xfrm>
        </p:grpSpPr>
        <p:sp>
          <p:nvSpPr>
            <p:cNvPr id="2058" name="Rectangle 2057">
              <a:extLst>
                <a:ext uri="{FF2B5EF4-FFF2-40B4-BE49-F238E27FC236}">
                  <a16:creationId xmlns:a16="http://schemas.microsoft.com/office/drawing/2014/main" id="{A3E03B72-6836-7B65-EFDC-65E86B74F7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34320" y="703141"/>
              <a:ext cx="123362" cy="12192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9" name="Rectangle 2058">
              <a:extLst>
                <a:ext uri="{FF2B5EF4-FFF2-40B4-BE49-F238E27FC236}">
                  <a16:creationId xmlns:a16="http://schemas.microsoft.com/office/drawing/2014/main" id="{E09BF0CE-18F8-59B7-0DF5-68B6A4F31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40559" y="4909383"/>
              <a:ext cx="123362" cy="3779520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D147303-FDD1-5D99-604F-A63AF08642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7482" y="4002672"/>
            <a:ext cx="6929996" cy="13004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3E78F9-8D28-1B06-6C37-652C29DC5EC8}"/>
              </a:ext>
            </a:extLst>
          </p:cNvPr>
          <p:cNvSpPr txBox="1"/>
          <p:nvPr/>
        </p:nvSpPr>
        <p:spPr>
          <a:xfrm>
            <a:off x="6098500" y="6183460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dirty="0">
                <a:hlinkClick r:id="rId5"/>
              </a:rPr>
              <a:t>lect17.pdf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24187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graph of a person with a blue line&#10;&#10;AI-generated content may be incorrect.">
            <a:extLst>
              <a:ext uri="{FF2B5EF4-FFF2-40B4-BE49-F238E27FC236}">
                <a16:creationId xmlns:a16="http://schemas.microsoft.com/office/drawing/2014/main" id="{7CC2566B-033E-0701-E33C-DCD1E6013B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6825" y="643467"/>
            <a:ext cx="4069148" cy="254321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graph with blue bars&#10;&#10;AI-generated content may be incorrect.">
            <a:extLst>
              <a:ext uri="{FF2B5EF4-FFF2-40B4-BE49-F238E27FC236}">
                <a16:creationId xmlns:a16="http://schemas.microsoft.com/office/drawing/2014/main" id="{73B6E8CB-ADEF-FFD8-24F5-4945B8B47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212" y="643467"/>
            <a:ext cx="4069148" cy="254321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white graph with black text&#10;&#10;AI-generated content may be incorrect.">
            <a:extLst>
              <a:ext uri="{FF2B5EF4-FFF2-40B4-BE49-F238E27FC236}">
                <a16:creationId xmlns:a16="http://schemas.microsoft.com/office/drawing/2014/main" id="{48CD8EEC-BCFF-8BCE-4329-BA6D74710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4709" y="3671316"/>
            <a:ext cx="4073380" cy="25458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183DEC-651E-95D6-C111-6023028CCA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2010" y="3671316"/>
            <a:ext cx="4085551" cy="255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222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graph&#10;&#10;AI-generated content may be incorrect.">
            <a:extLst>
              <a:ext uri="{FF2B5EF4-FFF2-40B4-BE49-F238E27FC236}">
                <a16:creationId xmlns:a16="http://schemas.microsoft.com/office/drawing/2014/main" id="{FBB7084E-CF2F-73A1-58D9-CF57A3AF91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7343" y="643466"/>
            <a:ext cx="863731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841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107A78-EC12-39F4-C818-7269078E0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 parte del espacio produce esto?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062AA8-0441-2414-6A1F-F0018A19C9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84" r="1" b="1"/>
          <a:stretch/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D843C3-BDBE-B41F-E2E0-E272ADE249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95" r="-3" b="-3"/>
          <a:stretch/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21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701758-8996-A910-1305-3E30841D8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Existe una problemática observada con los datos obtenidos</a:t>
            </a:r>
          </a:p>
        </p:txBody>
      </p:sp>
      <p:pic>
        <p:nvPicPr>
          <p:cNvPr id="7" name="Picture 6" descr="A chart with green and white text&#10;&#10;AI-generated content may be incorrect.">
            <a:extLst>
              <a:ext uri="{FF2B5EF4-FFF2-40B4-BE49-F238E27FC236}">
                <a16:creationId xmlns:a16="http://schemas.microsoft.com/office/drawing/2014/main" id="{8B4D54A5-935C-ECC8-E477-72F9ED108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941" y="643466"/>
            <a:ext cx="6629450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444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6A63CF-9CEB-4F2D-02AD-F314132181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6452" y="643466"/>
            <a:ext cx="603909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145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Freeform: Shape 206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65" name="Isosceles Triangle 206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Uploaded image">
            <a:extLst>
              <a:ext uri="{FF2B5EF4-FFF2-40B4-BE49-F238E27FC236}">
                <a16:creationId xmlns:a16="http://schemas.microsoft.com/office/drawing/2014/main" id="{AA91E895-B72C-7BA4-BA20-84BA47661D0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14084" y="643467"/>
            <a:ext cx="6963831" cy="557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7" name="Isosceles Triangle 206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349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B93DD8-F188-B081-6865-DF44728D26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467" y="948097"/>
            <a:ext cx="10905066" cy="496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226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E4494C-BF43-BCD0-C24C-74D909F49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 puntos son no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físicos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contienen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Nan’s?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C37CA2F1-5D4D-A2B4-31FC-4C6FA6824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20" y="1675227"/>
            <a:ext cx="10717559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967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5C653-269D-7080-8617-84EE1F357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Rápidamente permite ver como corregir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9A8A6-2648-95D1-0038-D9CDAF252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Los valores de beta por encima de pi/2 producen bajo una gran variedad de parámetros, aleatorios y en </a:t>
            </a:r>
            <a:r>
              <a:rPr lang="es-CL" dirty="0" err="1"/>
              <a:t>grid</a:t>
            </a:r>
            <a:r>
              <a:rPr lang="es-CL" dirty="0"/>
              <a:t>, un modelo inadecuado que no se permite con 2HDMC</a:t>
            </a:r>
          </a:p>
          <a:p>
            <a:pPr lvl="1"/>
            <a:r>
              <a:rPr lang="es-CL" dirty="0"/>
              <a:t>Lo mismo se comprueba después para valores negativos alrededor de –pi/2</a:t>
            </a:r>
          </a:p>
          <a:p>
            <a:pPr lvl="1"/>
            <a:endParaRPr lang="es-CL" dirty="0"/>
          </a:p>
          <a:p>
            <a:pPr lvl="1"/>
            <a:endParaRPr lang="es-CL" dirty="0"/>
          </a:p>
          <a:p>
            <a:pPr lvl="1"/>
            <a:r>
              <a:rPr lang="es-CL" dirty="0"/>
              <a:t>Para corregir se reformula la grilla de computo para el </a:t>
            </a:r>
            <a:r>
              <a:rPr lang="es-CL" dirty="0" err="1"/>
              <a:t>cluster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89895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15B01-452A-7F7D-F786-FB8A30BFB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Es posible obtener ciertas reglas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C06EB-C238-60EB-6084-764A75441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Reglas superficiales de los parámetros, pero al ser sumamente no lineales con la incorporación de lambda_6 y 7</a:t>
            </a:r>
          </a:p>
          <a:p>
            <a:pPr lvl="1"/>
            <a:r>
              <a:rPr lang="es-CL" dirty="0"/>
              <a:t>Que las expresiones para las masas no sea simple</a:t>
            </a:r>
          </a:p>
          <a:p>
            <a:r>
              <a:rPr lang="es-CL" dirty="0"/>
              <a:t>Hace poco viable el trabajar estas reglas y solo basarse en aquellas, pues hay otros fenómenos y </a:t>
            </a:r>
            <a:r>
              <a:rPr lang="es-CL" dirty="0" err="1"/>
              <a:t>constrains</a:t>
            </a:r>
            <a:r>
              <a:rPr lang="es-CL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76521E-0E14-EDF5-9007-6230A042C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170" y="4710312"/>
            <a:ext cx="5353797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46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math equations with numbers&#10;&#10;AI-generated content may be incorrect.">
            <a:extLst>
              <a:ext uri="{FF2B5EF4-FFF2-40B4-BE49-F238E27FC236}">
                <a16:creationId xmlns:a16="http://schemas.microsoft.com/office/drawing/2014/main" id="{645FD1C3-1740-F817-9492-144C3BF52B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5495" y="643467"/>
            <a:ext cx="844100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669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0800FBE-DC63-B5D3-4078-2483B26993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467" y="1397931"/>
            <a:ext cx="10905066" cy="406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348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0BA69-7956-B9A8-0AA1-6F14AFF86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s-CL" sz="3200" dirty="0"/>
              <a:t>ML sobre datos corregidos: </a:t>
            </a:r>
            <a:r>
              <a:rPr lang="es-CL" sz="3200" dirty="0" err="1"/>
              <a:t>Surrogative</a:t>
            </a:r>
            <a:r>
              <a:rPr lang="es-CL" sz="3200" dirty="0"/>
              <a:t> </a:t>
            </a:r>
            <a:r>
              <a:rPr lang="es-CL" sz="3200" dirty="0" err="1"/>
              <a:t>Model</a:t>
            </a:r>
            <a:endParaRPr lang="es-CL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49F59-E98D-A925-2A3E-BF9448C30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/>
          </a:bodyPr>
          <a:lstStyle/>
          <a:p>
            <a:pPr>
              <a:buNone/>
            </a:pPr>
            <a:r>
              <a:rPr lang="en-US" sz="2000" b="0" i="0">
                <a:effectLst/>
                <a:latin typeface="var(--notebook-cell-output-font-family)"/>
              </a:rPr>
              <a:t>Train size: 12825, Test size: 3207 </a:t>
            </a:r>
            <a:endParaRPr lang="es-US" sz="2000" b="0" i="0">
              <a:effectLst/>
              <a:latin typeface="Consolas" panose="020B0609020204030204" pitchFamily="49" charset="0"/>
            </a:endParaRPr>
          </a:p>
          <a:p>
            <a:r>
              <a:rPr lang="es-US" sz="2000" b="0" i="0">
                <a:effectLst/>
                <a:latin typeface="Consolas" panose="020B0609020204030204" pitchFamily="49" charset="0"/>
              </a:rPr>
              <a:t>Desempeño del Modelo Sustituto (Random Forest): </a:t>
            </a:r>
          </a:p>
          <a:p>
            <a:r>
              <a:rPr lang="es-US" sz="2000" b="0" i="0">
                <a:effectLst/>
                <a:latin typeface="Consolas" panose="020B0609020204030204" pitchFamily="49" charset="0"/>
              </a:rPr>
              <a:t>R²: 1.0000 RMSE: 0.0000 MAE: 0.0000 MAPE: 0.0039</a:t>
            </a:r>
            <a:endParaRPr lang="es-CL" sz="2000"/>
          </a:p>
        </p:txBody>
      </p:sp>
      <p:pic>
        <p:nvPicPr>
          <p:cNvPr id="1026" name="Picture 2" descr="Random Forest Regression. Random Forest Regression is a… | by Chaya | Level  Up Coding">
            <a:extLst>
              <a:ext uri="{FF2B5EF4-FFF2-40B4-BE49-F238E27FC236}">
                <a16:creationId xmlns:a16="http://schemas.microsoft.com/office/drawing/2014/main" id="{8308BEAE-015F-AE7D-49C2-56F367F25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87672" y="1405038"/>
            <a:ext cx="6389346" cy="4057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60431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E0F817-38F6-3973-E77A-9B8E18154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Interpretación de variables</a:t>
            </a:r>
          </a:p>
        </p:txBody>
      </p:sp>
      <p:pic>
        <p:nvPicPr>
          <p:cNvPr id="5" name="Content Placeholder 4" descr="A graph of a graph&#10;&#10;AI-generated content may be incorrect.">
            <a:extLst>
              <a:ext uri="{FF2B5EF4-FFF2-40B4-BE49-F238E27FC236}">
                <a16:creationId xmlns:a16="http://schemas.microsoft.com/office/drawing/2014/main" id="{57E644B3-3117-FE1D-DAE6-4312DF186C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5013" y="1675227"/>
            <a:ext cx="788197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056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012784A8-35AB-C782-149C-01DA77346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721453"/>
            <a:ext cx="5294716" cy="3415091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659B9127-AFBC-0C1D-026C-038609D3A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1688362"/>
            <a:ext cx="5294715" cy="34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897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red squares and numbers&#10;&#10;AI-generated content may be incorrect.">
            <a:extLst>
              <a:ext uri="{FF2B5EF4-FFF2-40B4-BE49-F238E27FC236}">
                <a16:creationId xmlns:a16="http://schemas.microsoft.com/office/drawing/2014/main" id="{0CF14485-C005-CE1B-5AB6-151A1E27F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881188"/>
            <a:ext cx="5291666" cy="3095624"/>
          </a:xfrm>
          <a:prstGeom prst="rect">
            <a:avLst/>
          </a:prstGeom>
        </p:spPr>
      </p:pic>
      <p:pic>
        <p:nvPicPr>
          <p:cNvPr id="7" name="Picture 6" descr="A graph with numbers and symbols&#10;&#10;AI-generated content may be incorrect.">
            <a:extLst>
              <a:ext uri="{FF2B5EF4-FFF2-40B4-BE49-F238E27FC236}">
                <a16:creationId xmlns:a16="http://schemas.microsoft.com/office/drawing/2014/main" id="{62DB4884-83AA-CAF4-2904-DB1D13D19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1907646"/>
            <a:ext cx="5291667" cy="304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1266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DEFAF7-E1AF-565A-E68F-00DB7B9FB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907646"/>
            <a:ext cx="5291666" cy="30427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BC9C69-6112-6E3C-2940-8CDA19268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2026708"/>
            <a:ext cx="5291667" cy="280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439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3D4B3D-86D4-2A72-002E-EF8CCBD99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779"/>
            <a:ext cx="6087348" cy="21610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8E4AE3-983A-91E2-93D6-0A4ABAB94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" y="4119693"/>
            <a:ext cx="6087348" cy="188707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4F1AFC-76A9-DCAF-4E2D-091BD11AA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720" y="2044282"/>
            <a:ext cx="6138064" cy="267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7388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cell&#10;&#10;AI-generated content may be incorrect.">
            <a:extLst>
              <a:ext uri="{FF2B5EF4-FFF2-40B4-BE49-F238E27FC236}">
                <a16:creationId xmlns:a16="http://schemas.microsoft.com/office/drawing/2014/main" id="{4EE347A4-06BB-1B22-D67E-C7D55A32F9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9889" y="643466"/>
            <a:ext cx="663222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8713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DF6E0-C7C8-30E3-60DB-C84BA01AD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Exploración de parámetros con multi objetivo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8C748-EFEB-3804-724F-696F8B639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Minimizar </a:t>
            </a:r>
            <a:r>
              <a:rPr lang="es-CL" dirty="0" err="1"/>
              <a:t>Decay</a:t>
            </a:r>
            <a:r>
              <a:rPr lang="es-CL" dirty="0"/>
              <a:t> </a:t>
            </a:r>
            <a:r>
              <a:rPr lang="es-CL" dirty="0" err="1"/>
              <a:t>Width</a:t>
            </a:r>
            <a:r>
              <a:rPr lang="es-CL" dirty="0"/>
              <a:t> total para tener </a:t>
            </a:r>
            <a:r>
              <a:rPr lang="es-CL" dirty="0" err="1"/>
              <a:t>vertex</a:t>
            </a:r>
            <a:r>
              <a:rPr lang="es-CL" dirty="0"/>
              <a:t> desplazados</a:t>
            </a:r>
          </a:p>
          <a:p>
            <a:r>
              <a:rPr lang="es-CL" dirty="0"/>
              <a:t>Maximizar </a:t>
            </a:r>
            <a:r>
              <a:rPr lang="es-CL" dirty="0" err="1"/>
              <a:t>Branching</a:t>
            </a:r>
            <a:r>
              <a:rPr lang="es-CL" dirty="0"/>
              <a:t> Ratio h2gaga</a:t>
            </a:r>
          </a:p>
        </p:txBody>
      </p:sp>
    </p:spTree>
    <p:extLst>
      <p:ext uri="{BB962C8B-B14F-4D97-AF65-F5344CB8AC3E}">
        <p14:creationId xmlns:p14="http://schemas.microsoft.com/office/powerpoint/2010/main" val="35697824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EB1B24-AB32-9DC1-56EF-5B8A72AB4F50}"/>
              </a:ext>
            </a:extLst>
          </p:cNvPr>
          <p:cNvSpPr txBox="1"/>
          <p:nvPr/>
        </p:nvSpPr>
        <p:spPr>
          <a:xfrm>
            <a:off x="838199" y="537883"/>
            <a:ext cx="4783697" cy="19428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NSGA-II (Non-dominated Sorting Genetic Algorithm II)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D6191F-73C9-A518-7FAB-AEDBFDD057CB}"/>
              </a:ext>
            </a:extLst>
          </p:cNvPr>
          <p:cNvSpPr txBox="1"/>
          <p:nvPr/>
        </p:nvSpPr>
        <p:spPr>
          <a:xfrm>
            <a:off x="838199" y="2686323"/>
            <a:ext cx="4783697" cy="34335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NSGA-II es un algoritmo genético diseñado específicamente para problemas de </a:t>
            </a:r>
            <a:r>
              <a:rPr lang="en-US" sz="2000" b="1"/>
              <a:t>optimización multiobjetivo</a:t>
            </a:r>
            <a:r>
              <a:rPr lang="en-US" sz="2000"/>
              <a:t>, donde tienes más de un objetivo que optimizar simultáneamente (por ejemplo: maximizar rendimiento y minimizar costo). Este algoritmo encuentra un conjunto de soluciones llamado </a:t>
            </a:r>
            <a:r>
              <a:rPr lang="en-US" sz="2000" b="1"/>
              <a:t>Frente de Pareto</a:t>
            </a:r>
            <a:r>
              <a:rPr lang="en-US" sz="2000"/>
              <a:t>, que representa el mejor compromiso entre los distintos objetivos.</a:t>
            </a:r>
          </a:p>
        </p:txBody>
      </p:sp>
      <p:pic>
        <p:nvPicPr>
          <p:cNvPr id="3074" name="Picture 2" descr="NSGA-II algorithm flowchart | Download Scientific Diagram">
            <a:extLst>
              <a:ext uri="{FF2B5EF4-FFF2-40B4-BE49-F238E27FC236}">
                <a16:creationId xmlns:a16="http://schemas.microsoft.com/office/drawing/2014/main" id="{97C9A7CC-4530-61D1-C318-4F0ADBBABD7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5055" y="537882"/>
            <a:ext cx="4312112" cy="5582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50768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3: 3D Pareto front for NSGA-II. The data points are coloured as a... |  Download Scientific Diagram">
            <a:extLst>
              <a:ext uri="{FF2B5EF4-FFF2-40B4-BE49-F238E27FC236}">
                <a16:creationId xmlns:a16="http://schemas.microsoft.com/office/drawing/2014/main" id="{D61E7C1D-B955-8EAD-57C2-75BB391463B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39555" y="643466"/>
            <a:ext cx="7312889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92379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ED1F92-BCD1-C811-A2F9-76AF6CE97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US" dirty="0"/>
              <a:t>1. Inicializar población aleatoria.</a:t>
            </a:r>
          </a:p>
          <a:p>
            <a:r>
              <a:rPr lang="es-US" dirty="0"/>
              <a:t>2. Evaluar objetivos para cada solución.</a:t>
            </a:r>
          </a:p>
          <a:p>
            <a:r>
              <a:rPr lang="es-US" dirty="0"/>
              <a:t>3. Mientras no se cumpla condición de parada:</a:t>
            </a:r>
          </a:p>
          <a:p>
            <a:r>
              <a:rPr lang="es-US" dirty="0"/>
              <a:t>    a. Clasificar soluciones en frentes no dominados (</a:t>
            </a:r>
            <a:r>
              <a:rPr lang="es-US" dirty="0" err="1"/>
              <a:t>sorting</a:t>
            </a:r>
            <a:r>
              <a:rPr lang="es-US" dirty="0"/>
              <a:t>).</a:t>
            </a:r>
          </a:p>
          <a:p>
            <a:r>
              <a:rPr lang="es-US" dirty="0"/>
              <a:t>    b. Calcular distancia de hacinamiento en cada frente.</a:t>
            </a:r>
          </a:p>
          <a:p>
            <a:r>
              <a:rPr lang="es-US" dirty="0"/>
              <a:t>    c. Crear población de padres por selección de torneo binario.</a:t>
            </a:r>
          </a:p>
          <a:p>
            <a:r>
              <a:rPr lang="es-US" dirty="0"/>
              <a:t>    d. Aplicar operadores de cruce y mutación para generar hijos.</a:t>
            </a:r>
          </a:p>
          <a:p>
            <a:r>
              <a:rPr lang="es-US" dirty="0"/>
              <a:t>    e. Combinar padres e hijos.</a:t>
            </a:r>
          </a:p>
          <a:p>
            <a:r>
              <a:rPr lang="es-US" dirty="0"/>
              <a:t>    f. Seleccionar las mejores soluciones usando orden y distancia de hacinamiento.</a:t>
            </a:r>
          </a:p>
          <a:p>
            <a:r>
              <a:rPr lang="es-US" dirty="0"/>
              <a:t>4. Retornar soluciones del primer frente (Frente de Pareto).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15461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4275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450</Words>
  <Application>Microsoft Office PowerPoint</Application>
  <PresentationFormat>Widescreen</PresentationFormat>
  <Paragraphs>50</Paragraphs>
  <Slides>27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Arial</vt:lpstr>
      <vt:lpstr>Consolas</vt:lpstr>
      <vt:lpstr>var(--notebook-cell-output-font-family)</vt:lpstr>
      <vt:lpstr>Office Theme</vt:lpstr>
      <vt:lpstr>Búsqueda de Parámetros Físicos</vt:lpstr>
      <vt:lpstr>PowerPoint Presentation</vt:lpstr>
      <vt:lpstr>Es necesaria una búsqueda de millones de puntos?</vt:lpstr>
      <vt:lpstr>PowerPoint Presentation</vt:lpstr>
      <vt:lpstr>PowerPoint Presentation</vt:lpstr>
      <vt:lpstr>Que parte del espacio produce esto?</vt:lpstr>
      <vt:lpstr>Existe una problemática observada con los datos obtenidos</vt:lpstr>
      <vt:lpstr>PowerPoint Presentation</vt:lpstr>
      <vt:lpstr>PowerPoint Presentation</vt:lpstr>
      <vt:lpstr>PowerPoint Presentation</vt:lpstr>
      <vt:lpstr>Que puntos son no físicos y contienen Nan’s?</vt:lpstr>
      <vt:lpstr>Rápidamente permite ver como corregir</vt:lpstr>
      <vt:lpstr>Es posible obtener ciertas reglas</vt:lpstr>
      <vt:lpstr>PowerPoint Presentation</vt:lpstr>
      <vt:lpstr>PowerPoint Presentation</vt:lpstr>
      <vt:lpstr>ML sobre datos corregidos: Surrogative Model</vt:lpstr>
      <vt:lpstr>Interpretación de variables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Exploración de parámetros con multi objetivo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Fabian Trigo</dc:creator>
  <cp:lastModifiedBy>Fabian Trigo</cp:lastModifiedBy>
  <cp:revision>4</cp:revision>
  <dcterms:created xsi:type="dcterms:W3CDTF">2025-04-04T01:50:16Z</dcterms:created>
  <dcterms:modified xsi:type="dcterms:W3CDTF">2025-04-04T19:55:01Z</dcterms:modified>
</cp:coreProperties>
</file>